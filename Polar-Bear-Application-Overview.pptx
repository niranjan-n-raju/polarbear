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658368"/>
            <a:ext cx="658368" cy="658368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32104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 Display"/>
              </a:rPr>
              <a:t>PB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00784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7C6D3"/>
                </a:solidFill>
                <a:latin typeface="Aptos"/>
              </a:rPr>
              <a:t>POLAR BEAR  /  APPLICATION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40280"/>
            <a:ext cx="704088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 i="0">
                <a:solidFill>
                  <a:srgbClr val="FFFFFF"/>
                </a:solidFill>
                <a:latin typeface="Aptos Display"/>
              </a:rPr>
              <a:t>Store operations,
connected.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822191"/>
            <a:ext cx="603504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D0DAE2"/>
                </a:solidFill>
                <a:latin typeface="Aptos"/>
              </a:rPr>
              <a:t>A practical workspace for central oversight and
consistent day-to-day execution across stores.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892040"/>
            <a:ext cx="2267712" cy="274320"/>
          </a:xfrm>
          <a:prstGeom prst="roundRect">
            <a:avLst>
              <a:gd name="adj" fmla="val 8000"/>
            </a:avLst>
          </a:prstGeom>
          <a:solidFill>
            <a:srgbClr val="243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942331"/>
            <a:ext cx="2048256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C8E9ED"/>
                </a:solidFill>
                <a:latin typeface="Aptos"/>
              </a:rPr>
              <a:t>FOR POLAR BEAR OFFICIALS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99248" y="1170432"/>
            <a:ext cx="3730752" cy="4517136"/>
          </a:xfrm>
          <a:prstGeom prst="roundRect">
            <a:avLst>
              <a:gd name="adj" fmla="val 8000"/>
            </a:avLst>
          </a:prstGeom>
          <a:solidFill>
            <a:srgbClr val="1D344B"/>
          </a:solidFill>
          <a:ln w="10160">
            <a:solidFill>
              <a:srgbClr val="39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517904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7C6D3"/>
                </a:solidFill>
                <a:latin typeface="Aptos"/>
              </a:rPr>
              <a:t>ONE 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975104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A6B8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965960"/>
            <a:ext cx="23957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26771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C2CFD9"/>
                </a:solidFill>
                <a:latin typeface="Aptos"/>
              </a:rPr>
              <a:t>Daily store transactions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74152" y="2560320"/>
            <a:ext cx="3008376" cy="0"/>
          </a:xfrm>
          <a:prstGeom prst="line">
            <a:avLst/>
          </a:prstGeom>
          <a:ln w="8890">
            <a:solidFill>
              <a:srgbClr val="395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46720" y="2816352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07832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807208"/>
            <a:ext cx="23957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PEOPLE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10896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C2CFD9"/>
                </a:solidFill>
                <a:latin typeface="Aptos"/>
              </a:rPr>
              <a:t>Employees, attendance, pay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74152" y="3401568"/>
            <a:ext cx="3008376" cy="0"/>
          </a:xfrm>
          <a:prstGeom prst="line">
            <a:avLst/>
          </a:prstGeom>
          <a:ln w="8890">
            <a:solidFill>
              <a:srgbClr val="395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46720" y="3657600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8B849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648456"/>
            <a:ext cx="23957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STOCK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95020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C2CFD9"/>
                </a:solidFill>
                <a:latin typeface="Aptos"/>
              </a:rPr>
              <a:t>Catalog, expiry, inventory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74152" y="4242816"/>
            <a:ext cx="3008376" cy="0"/>
          </a:xfrm>
          <a:prstGeom prst="line">
            <a:avLst/>
          </a:prstGeom>
          <a:ln w="8890">
            <a:solidFill>
              <a:srgbClr val="395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46720" y="4498848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A6B8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489704"/>
            <a:ext cx="23957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FINANCE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791456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C2CFD9"/>
                </a:solidFill>
                <a:latin typeface="Aptos"/>
              </a:rPr>
              <a:t>Expenses and P&amp;L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0352" y="6428232"/>
            <a:ext cx="11128248" cy="0"/>
          </a:xfrm>
          <a:prstGeom prst="line">
            <a:avLst/>
          </a:prstGeom>
          <a:ln w="8890">
            <a:solidFill>
              <a:srgbClr val="354A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9BAC8"/>
                </a:solidFill>
                <a:latin typeface="Aptos"/>
              </a:rPr>
              <a:t>POLAR BEAR  /  STORE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6510528"/>
            <a:ext cx="3063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AC8"/>
                </a:solidFill>
                <a:latin typeface="Aptos"/>
              </a:rPr>
              <a:t>APPLICATION OVERVIEW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5720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07832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83F"/>
                </a:solidFill>
                <a:latin typeface="Aptos Display"/>
              </a:rPr>
              <a:t>One operating model. Two operating levels.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86777"/>
                </a:solidFill>
                <a:latin typeface="Aptos"/>
              </a:rPr>
              <a:t>Central teams oversee the network; store teams manage the work in their assigned store.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321808" cy="3218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50292" cy="3218688"/>
          </a:xfrm>
          <a:prstGeom prst="rect">
            <a:avLst/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14015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9A6B8"/>
                </a:solidFill>
                <a:latin typeface="Aptos Display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2414015"/>
            <a:ext cx="4334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83F"/>
                </a:solidFill>
                <a:latin typeface="Aptos"/>
              </a:rPr>
              <a:t>Network oversight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07791"/>
            <a:ext cx="4828032" cy="2340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86777"/>
                </a:solidFill>
                <a:latin typeface="Aptos"/>
              </a:rPr>
              <a:t>Admin and sub-admin views bring store and user administration together, with a dashboard designed for network-level visibility.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3209544"/>
            <a:ext cx="91440" cy="91440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82112"/>
            <a:ext cx="43525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410712"/>
            <a:ext cx="43525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Create and manage store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3803904"/>
            <a:ext cx="91440" cy="91440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3776472"/>
            <a:ext cx="43525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005072"/>
            <a:ext cx="43525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Assign roles and store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4398264"/>
            <a:ext cx="91440" cy="91440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370832"/>
            <a:ext cx="43525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599432"/>
            <a:ext cx="43525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Review store and workforce counts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2194560"/>
            <a:ext cx="5321808" cy="3218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2194560"/>
            <a:ext cx="50292" cy="3218688"/>
          </a:xfrm>
          <a:prstGeom prst="rect">
            <a:avLst/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2414015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07832"/>
                </a:solidFill>
                <a:latin typeface="Aptos Display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2414015"/>
            <a:ext cx="4334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83F"/>
                </a:solidFill>
                <a:latin typeface="Aptos"/>
              </a:rPr>
              <a:t>Store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2907791"/>
            <a:ext cx="4828032" cy="2340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86777"/>
                </a:solidFill>
                <a:latin typeface="Aptos"/>
              </a:rPr>
              <a:t>Store admins work within their assigned store across sales, inventory, workforce, and financial workflows.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209544"/>
            <a:ext cx="91440" cy="91440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182112"/>
            <a:ext cx="43525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Daily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7" y="3410712"/>
            <a:ext cx="43525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Sales, inventory, withdrawals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803904"/>
            <a:ext cx="91440" cy="91440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7" y="3776472"/>
            <a:ext cx="43525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People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7" y="4005072"/>
            <a:ext cx="43525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Employees, attendance, salary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4398264"/>
            <a:ext cx="91440" cy="91440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7" y="4370832"/>
            <a:ext cx="43525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7" y="4599432"/>
            <a:ext cx="43525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Store-level trends and P&amp;L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30352" y="6428232"/>
            <a:ext cx="11128248" cy="0"/>
          </a:xfrm>
          <a:prstGeom prst="line">
            <a:avLst/>
          </a:prstGeom>
          <a:ln w="8890">
            <a:solidFill>
              <a:srgbClr val="DCE3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A8792"/>
                </a:solidFill>
                <a:latin typeface="Aptos"/>
              </a:rPr>
              <a:t>POLAR BEAR  /  STORE 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6510528"/>
            <a:ext cx="3063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7A8792"/>
                </a:solidFill>
                <a:latin typeface="Aptos"/>
              </a:rPr>
              <a:t>APPLICATION OVERVIEW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5720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07832"/>
                </a:solidFill>
                <a:latin typeface="Aptos"/>
              </a:rPr>
              <a:t>ROLE-BASED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83F"/>
                </a:solidFill>
                <a:latin typeface="Aptos Display"/>
              </a:rPr>
              <a:t>Clear responsibility at every level.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86777"/>
                </a:solidFill>
                <a:latin typeface="Aptos"/>
              </a:rPr>
              <a:t>The experience adapts to the signed-in role and authorized store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57984"/>
            <a:ext cx="5285232" cy="3547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468880"/>
            <a:ext cx="1682496" cy="274320"/>
          </a:xfrm>
          <a:prstGeom prst="roundRect">
            <a:avLst>
              <a:gd name="adj" fmla="val 8000"/>
            </a:avLst>
          </a:prstGeom>
          <a:solidFill>
            <a:srgbClr val="EA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519172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9A6B8"/>
                </a:solidFill>
                <a:latin typeface="Aptos"/>
              </a:rPr>
              <a:t>ADMIN / SUB-ADMIN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44368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4283F"/>
                </a:solidFill>
                <a:latin typeface="Aptos Display"/>
              </a:rPr>
              <a:t>Set up the network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703320"/>
            <a:ext cx="73152" cy="73152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611880"/>
            <a:ext cx="435254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86777"/>
                </a:solidFill>
                <a:latin typeface="Aptos"/>
              </a:rPr>
              <a:t>Create and maintain store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142231"/>
            <a:ext cx="73152" cy="73152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4050791"/>
            <a:ext cx="435254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86777"/>
                </a:solidFill>
                <a:latin typeface="Aptos"/>
              </a:rPr>
              <a:t>Manage authorized user accounts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581144"/>
            <a:ext cx="73152" cy="73152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4489704"/>
            <a:ext cx="435254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86777"/>
                </a:solidFill>
                <a:latin typeface="Aptos"/>
              </a:rPr>
              <a:t>Review network-level dashboard summaries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5020056"/>
            <a:ext cx="73152" cy="73152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928616"/>
            <a:ext cx="435254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86777"/>
                </a:solidFill>
                <a:latin typeface="Aptos"/>
              </a:rPr>
              <a:t>Navigate to stores and user administration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2157984"/>
            <a:ext cx="5285232" cy="3547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47104" y="2468880"/>
            <a:ext cx="1207008" cy="274320"/>
          </a:xfrm>
          <a:prstGeom prst="roundRect">
            <a:avLst>
              <a:gd name="adj" fmla="val 8000"/>
            </a:avLst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519172"/>
            <a:ext cx="98755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F07832"/>
                </a:solidFill>
                <a:latin typeface="Aptos"/>
              </a:rPr>
              <a:t>STORE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2944368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4283F"/>
                </a:solidFill>
                <a:latin typeface="Aptos Display"/>
              </a:rPr>
              <a:t>Run the store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74536" y="3703320"/>
            <a:ext cx="73152" cy="73152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75704" y="3611880"/>
            <a:ext cx="435254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86777"/>
                </a:solidFill>
                <a:latin typeface="Aptos"/>
              </a:rPr>
              <a:t>Record sales and operating expenses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74536" y="4142231"/>
            <a:ext cx="73152" cy="73152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75704" y="4050791"/>
            <a:ext cx="435254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86777"/>
                </a:solidFill>
                <a:latin typeface="Aptos"/>
              </a:rPr>
              <a:t>Manage stock and expiry workflows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74536" y="4581144"/>
            <a:ext cx="73152" cy="73152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75704" y="4489704"/>
            <a:ext cx="435254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86777"/>
                </a:solidFill>
                <a:latin typeface="Aptos"/>
              </a:rPr>
              <a:t>Maintain employee and attendance records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74536" y="5020056"/>
            <a:ext cx="73152" cy="73152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75704" y="4928616"/>
            <a:ext cx="435254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86777"/>
                </a:solidFill>
                <a:latin typeface="Aptos"/>
              </a:rPr>
              <a:t>Review payroll and store financials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0352" y="6428232"/>
            <a:ext cx="11128248" cy="0"/>
          </a:xfrm>
          <a:prstGeom prst="line">
            <a:avLst/>
          </a:prstGeom>
          <a:ln w="8890">
            <a:solidFill>
              <a:srgbClr val="DCE3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A8792"/>
                </a:solidFill>
                <a:latin typeface="Aptos"/>
              </a:rPr>
              <a:t>POLAR BEAR  /  STORE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6510528"/>
            <a:ext cx="3063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7A8792"/>
                </a:solidFill>
                <a:latin typeface="Aptos"/>
              </a:rPr>
              <a:t>APPLICATION OVERVIEW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5720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07832"/>
                </a:solidFill>
                <a:latin typeface="Aptos"/>
              </a:rPr>
              <a:t>DAILY OPERATING RHYTHM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83F"/>
                </a:solidFill>
                <a:latin typeface="Aptos Display"/>
              </a:rPr>
              <a:t>The application follows the workday.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86777"/>
                </a:solidFill>
                <a:latin typeface="Aptos"/>
              </a:rPr>
              <a:t>Capture activity once, then use it across the store's operational 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60320"/>
            <a:ext cx="2468880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816352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9A6B8"/>
                </a:solidFill>
                <a:latin typeface="Aptos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364992"/>
            <a:ext cx="19019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83F"/>
                </a:solidFill>
                <a:latin typeface="Aptos"/>
              </a:rP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822191"/>
            <a:ext cx="19385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86777"/>
                </a:solidFill>
                <a:latin typeface="Aptos"/>
              </a:rPr>
              <a:t>Record sales, payment mix, and expenses.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27248" y="3685032"/>
            <a:ext cx="365760" cy="0"/>
          </a:xfrm>
          <a:prstGeom prst="line">
            <a:avLst/>
          </a:prstGeom>
          <a:ln w="25400">
            <a:solidFill>
              <a:srgbClr val="19A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47872" y="2560320"/>
            <a:ext cx="2468880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5" y="2816352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07832"/>
                </a:solidFill>
                <a:latin typeface="Aptos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3364992"/>
            <a:ext cx="19019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83F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5615" y="3822191"/>
            <a:ext cx="19385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86777"/>
                </a:solidFill>
                <a:latin typeface="Aptos"/>
              </a:rPr>
              <a:t>Receive stock and track expiry by product.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16752" y="3685032"/>
            <a:ext cx="365760" cy="0"/>
          </a:xfrm>
          <a:prstGeom prst="line">
            <a:avLst/>
          </a:prstGeom>
          <a:ln w="25400">
            <a:solidFill>
              <a:srgbClr val="F07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37376" y="2560320"/>
            <a:ext cx="2468880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816352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E8B849"/>
                </a:solidFill>
                <a:latin typeface="Aptos Display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64992"/>
            <a:ext cx="19019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83F"/>
                </a:solidFill>
                <a:latin typeface="Aptos"/>
              </a:rPr>
              <a:t>Coordinate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822191"/>
            <a:ext cx="19385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86777"/>
                </a:solidFill>
                <a:latin typeface="Aptos"/>
              </a:rPr>
              <a:t>Maintain employee and attendance records.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06256" y="3685032"/>
            <a:ext cx="365760" cy="0"/>
          </a:xfrm>
          <a:prstGeom prst="line">
            <a:avLst/>
          </a:prstGeom>
          <a:ln w="25400">
            <a:solidFill>
              <a:srgbClr val="E8B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26880" y="2560320"/>
            <a:ext cx="2468880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64624" y="2816352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9A6B8"/>
                </a:solidFill>
                <a:latin typeface="Aptos Display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4624" y="3364992"/>
            <a:ext cx="19019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83F"/>
                </a:solidFill>
                <a:latin typeface="Aptos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64624" y="3822191"/>
            <a:ext cx="19385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86777"/>
                </a:solidFill>
                <a:latin typeface="Aptos"/>
              </a:rPr>
              <a:t>Use P&amp;L, salary, and dashboard summaries.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248656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86777"/>
                </a:solidFill>
                <a:latin typeface="Aptos"/>
              </a:rPr>
              <a:t>Store-scoped records keep daily activity aligned to the selected store.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28232"/>
            <a:ext cx="11128248" cy="0"/>
          </a:xfrm>
          <a:prstGeom prst="line">
            <a:avLst/>
          </a:prstGeom>
          <a:ln w="8890">
            <a:solidFill>
              <a:srgbClr val="DCE3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A8792"/>
                </a:solidFill>
                <a:latin typeface="Aptos"/>
              </a:rPr>
              <a:t>POLAR BEAR  /  STORE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6510528"/>
            <a:ext cx="3063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7A8792"/>
                </a:solidFill>
                <a:latin typeface="Aptos"/>
              </a:rPr>
              <a:t>APPLICATION OVERVIEW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5720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07832"/>
                </a:solidFill>
                <a:latin typeface="Aptos"/>
              </a:rPr>
              <a:t>SALES AND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83F"/>
                </a:solidFill>
                <a:latin typeface="Aptos Display"/>
              </a:rPr>
              <a:t>From daily entry to monthly performance.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86777"/>
                </a:solidFill>
                <a:latin typeface="Aptos"/>
              </a:rPr>
              <a:t>Sales, expenses, withdrawals, payroll, and profit are presented in related store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240280"/>
            <a:ext cx="3685032" cy="3364992"/>
          </a:xfrm>
          <a:prstGeom prst="roundRect">
            <a:avLst>
              <a:gd name="adj" fmla="val 8000"/>
            </a:avLst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57860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7C6D3"/>
                </a:solidFill>
                <a:latin typeface="Aptos"/>
              </a:rPr>
              <a:t>DAILY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30175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ptos Display"/>
              </a:rPr>
              <a:t>One daily record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" y="3749039"/>
            <a:ext cx="91440" cy="91440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675887"/>
            <a:ext cx="248716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0E8ED"/>
                </a:solidFill>
                <a:latin typeface="Aptos"/>
              </a:rPr>
              <a:t>Sales 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" y="4142231"/>
            <a:ext cx="91440" cy="91440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69079"/>
            <a:ext cx="248716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0E8ED"/>
                </a:solidFill>
                <a:latin typeface="Aptos"/>
              </a:rPr>
              <a:t>Payment channels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" y="4535424"/>
            <a:ext cx="91440" cy="91440"/>
          </a:xfrm>
          <a:prstGeom prst="roundRect">
            <a:avLst>
              <a:gd name="adj" fmla="val 8000"/>
            </a:avLst>
          </a:prstGeom>
          <a:solidFill>
            <a:srgbClr val="E8B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462272"/>
            <a:ext cx="248716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0E8ED"/>
                </a:solidFill>
                <a:latin typeface="Aptos"/>
              </a:rPr>
              <a:t>Expenses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" y="4928616"/>
            <a:ext cx="91440" cy="91440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855464"/>
            <a:ext cx="248716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0E8ED"/>
                </a:solidFill>
                <a:latin typeface="Aptos"/>
              </a:rPr>
              <a:t>Cash handover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238658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07832"/>
                </a:solidFill>
                <a:latin typeface="Aptos"/>
              </a:rPr>
              <a:t>P&amp;L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2779776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4283F"/>
                </a:solidFill>
                <a:latin typeface="Aptos Display"/>
              </a:rPr>
              <a:t>A month-by-month 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01184" y="3419856"/>
            <a:ext cx="3136392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3511296"/>
            <a:ext cx="14904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4283F"/>
                </a:solidFill>
                <a:latin typeface="Aptos"/>
              </a:rPr>
              <a:t>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511296"/>
            <a:ext cx="1234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86777"/>
                </a:solidFill>
                <a:latin typeface="Aptos"/>
              </a:rPr>
              <a:t>Sales activity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01184" y="3931920"/>
            <a:ext cx="3136392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4023360"/>
            <a:ext cx="14904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4283F"/>
                </a:solidFill>
                <a:latin typeface="Aptos"/>
              </a:rPr>
              <a:t>Store expenses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023360"/>
            <a:ext cx="1234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86777"/>
                </a:solidFill>
                <a:latin typeface="Aptos"/>
              </a:rPr>
              <a:t>Operating costs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01184" y="4443984"/>
            <a:ext cx="3136392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02352" y="4535424"/>
            <a:ext cx="14904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4283F"/>
                </a:solidFill>
                <a:latin typeface="Aptos"/>
              </a:rPr>
              <a:t>Payroll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535424"/>
            <a:ext cx="1234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86777"/>
                </a:solidFill>
                <a:latin typeface="Aptos"/>
              </a:rPr>
              <a:t>Salary projection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01184" y="4956048"/>
            <a:ext cx="3136392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02352" y="5047488"/>
            <a:ext cx="14904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4283F"/>
                </a:solidFill>
                <a:latin typeface="Aptos"/>
              </a:rPr>
              <a:t>Net profit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5047488"/>
            <a:ext cx="12344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86777"/>
                </a:solidFill>
                <a:latin typeface="Aptos"/>
              </a:rPr>
              <a:t>Outcome and margin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03920" y="2514600"/>
            <a:ext cx="0" cy="2816352"/>
          </a:xfrm>
          <a:prstGeom prst="line">
            <a:avLst/>
          </a:prstGeom>
          <a:ln w="12700">
            <a:solidFill>
              <a:srgbClr val="DCE3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887968" y="2523744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83F"/>
                </a:solidFill>
                <a:latin typeface="Aptos"/>
              </a:rPr>
              <a:t>Related workflows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06256" y="3099815"/>
            <a:ext cx="91440" cy="91440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07424" y="307238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Sales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424" y="330098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Daily record and 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06256" y="3758184"/>
            <a:ext cx="91440" cy="91440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373075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Withdrawals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95935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Track store cash movements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06256" y="4416552"/>
            <a:ext cx="91440" cy="91440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07424" y="438912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P&amp;L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07424" y="461772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Revenue, costs, and margin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30352" y="6428232"/>
            <a:ext cx="11128248" cy="0"/>
          </a:xfrm>
          <a:prstGeom prst="line">
            <a:avLst/>
          </a:prstGeom>
          <a:ln w="8890">
            <a:solidFill>
              <a:srgbClr val="DCE3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A8792"/>
                </a:solidFill>
                <a:latin typeface="Aptos"/>
              </a:rPr>
              <a:t>POLAR BEAR  /  STORE OPERATIONS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6510528"/>
            <a:ext cx="3063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7A8792"/>
                </a:solidFill>
                <a:latin typeface="Aptos"/>
              </a:rPr>
              <a:t>APPLICATION OVERVIEW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5720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07832"/>
                </a:solidFill>
                <a:latin typeface="Aptos"/>
              </a:rPr>
              <a:t>PEOPLE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83F"/>
                </a:solidFill>
                <a:latin typeface="Aptos Display"/>
              </a:rPr>
              <a:t>A connected view of the employee lifecycle.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86777"/>
                </a:solidFill>
                <a:latin typeface="Aptos"/>
              </a:rPr>
              <a:t>Employee records support attendance, salary administration, and employee documentation.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2578608"/>
            <a:ext cx="2423160" cy="18836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2578608"/>
            <a:ext cx="2423160" cy="73152"/>
          </a:xfrm>
          <a:prstGeom prst="rect">
            <a:avLst/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07792"/>
            <a:ext cx="19933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9A6B8"/>
                </a:solidFill>
                <a:latin typeface="Aptos"/>
              </a:rP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74136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283F"/>
                </a:solidFill>
                <a:latin typeface="Aptos"/>
              </a:rPr>
              <a:t>Profiles, joining dates,
employment details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18104" y="3511296"/>
            <a:ext cx="393192" cy="0"/>
          </a:xfrm>
          <a:prstGeom prst="line">
            <a:avLst/>
          </a:prstGeom>
          <a:ln w="25400">
            <a:solidFill>
              <a:srgbClr val="19A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57015" y="2578608"/>
            <a:ext cx="2423160" cy="18836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57015" y="2578608"/>
            <a:ext cx="2423160" cy="73152"/>
          </a:xfrm>
          <a:prstGeom prst="rect">
            <a:avLst/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2907792"/>
            <a:ext cx="19933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07832"/>
                </a:solidFill>
                <a:latin typeface="Aptos"/>
              </a:rPr>
              <a:t>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3374136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283F"/>
                </a:solidFill>
                <a:latin typeface="Aptos"/>
              </a:rPr>
              <a:t>Daily and weekly
attendance workflows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0175" y="3511296"/>
            <a:ext cx="393193" cy="0"/>
          </a:xfrm>
          <a:prstGeom prst="line">
            <a:avLst/>
          </a:prstGeom>
          <a:ln w="25400">
            <a:solidFill>
              <a:srgbClr val="F07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19088" y="2578608"/>
            <a:ext cx="2423160" cy="18836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19088" y="2578608"/>
            <a:ext cx="2423160" cy="73152"/>
          </a:xfrm>
          <a:prstGeom prst="rect">
            <a:avLst/>
          </a:prstGeom>
          <a:solidFill>
            <a:srgbClr val="E8B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544" y="2907792"/>
            <a:ext cx="19933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8B849"/>
                </a:solidFill>
                <a:latin typeface="Aptos"/>
              </a:rPr>
              <a:t>SALARY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4" y="3374136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283F"/>
                </a:solidFill>
                <a:latin typeface="Aptos"/>
              </a:rPr>
              <a:t>Monthly projections,
incentives, advances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42248" y="3511296"/>
            <a:ext cx="393192" cy="0"/>
          </a:xfrm>
          <a:prstGeom prst="line">
            <a:avLst/>
          </a:prstGeom>
          <a:ln w="25400">
            <a:solidFill>
              <a:srgbClr val="E8B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81160" y="2578608"/>
            <a:ext cx="2423160" cy="18836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2578608"/>
            <a:ext cx="2423160" cy="73152"/>
          </a:xfrm>
          <a:prstGeom prst="rect">
            <a:avLst/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0616" y="2907792"/>
            <a:ext cx="19933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9A6B8"/>
                </a:solidFill>
                <a:latin typeface="Aptos"/>
              </a:rPr>
              <a:t>SLIPS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0616" y="3374136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283F"/>
                </a:solidFill>
                <a:latin typeface="Aptos"/>
              </a:rPr>
              <a:t>Downloadable salary
slip PDFs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" y="4901184"/>
            <a:ext cx="10954512" cy="640080"/>
          </a:xfrm>
          <a:prstGeom prst="roundRect">
            <a:avLst>
              <a:gd name="adj" fmla="val 8000"/>
            </a:avLst>
          </a:prstGeom>
          <a:solidFill>
            <a:srgbClr val="EA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102352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Store admins work with the employee records and salary activity for their authorized store.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0352" y="6428232"/>
            <a:ext cx="11128248" cy="0"/>
          </a:xfrm>
          <a:prstGeom prst="line">
            <a:avLst/>
          </a:prstGeom>
          <a:ln w="8890">
            <a:solidFill>
              <a:srgbClr val="DCE3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A8792"/>
                </a:solidFill>
                <a:latin typeface="Aptos"/>
              </a:rPr>
              <a:t>POLAR BEAR  /  STORE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6510528"/>
            <a:ext cx="3063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7A8792"/>
                </a:solidFill>
                <a:latin typeface="Aptos"/>
              </a:rPr>
              <a:t>APPLICATION OVERVIEW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5720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07832"/>
                </a:solidFill>
                <a:latin typeface="Aptos"/>
              </a:rPr>
              <a:t>INVENTORY AND STORE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83F"/>
                </a:solidFill>
                <a:latin typeface="Aptos Display"/>
              </a:rPr>
              <a:t>Standardize the catalog. Track stock by store.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86777"/>
                </a:solidFill>
                <a:latin typeface="Aptos"/>
              </a:rPr>
              <a:t>A shared product list sits alongside store-specific quantities and expiry 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2267712"/>
            <a:ext cx="5230368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" y="2578608"/>
            <a:ext cx="1481328" cy="274320"/>
          </a:xfrm>
          <a:prstGeom prst="roundRect">
            <a:avLst>
              <a:gd name="adj" fmla="val 8000"/>
            </a:avLst>
          </a:prstGeom>
          <a:solidFill>
            <a:srgbClr val="EA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628900"/>
            <a:ext cx="126187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9A6B8"/>
                </a:solidFill>
                <a:latin typeface="Aptos"/>
              </a:rPr>
              <a:t>SHARED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090672"/>
            <a:ext cx="449884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83F"/>
                </a:solidFill>
                <a:latin typeface="Aptos Display"/>
              </a:rPr>
              <a:t>Product definitions stay consistent.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758184"/>
            <a:ext cx="91440" cy="91440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3730752"/>
            <a:ext cx="4279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3959352"/>
            <a:ext cx="42793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One catalog available to stores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288536"/>
            <a:ext cx="91440" cy="91440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4261104"/>
            <a:ext cx="4279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Stock batches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4489704"/>
            <a:ext cx="42793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Quantity and expiry by store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818888"/>
            <a:ext cx="91440" cy="91440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791456"/>
            <a:ext cx="4279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Expiry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5020056"/>
            <a:ext cx="42793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FEFO workflow and expired-stock disposal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267712"/>
            <a:ext cx="5230368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28816" y="2578608"/>
            <a:ext cx="1847088" cy="274320"/>
          </a:xfrm>
          <a:prstGeom prst="roundRect">
            <a:avLst>
              <a:gd name="adj" fmla="val 8000"/>
            </a:avLst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2628900"/>
            <a:ext cx="162763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F07832"/>
                </a:solidFill>
                <a:latin typeface="Aptos"/>
              </a:rPr>
              <a:t>STORE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3090672"/>
            <a:ext cx="449884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83F"/>
                </a:solidFill>
                <a:latin typeface="Aptos Display"/>
              </a:rPr>
              <a:t>Local rules for daily execution.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65392" y="3758184"/>
            <a:ext cx="91440" cy="91440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59" y="3730752"/>
            <a:ext cx="4279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Branding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3959352"/>
            <a:ext cx="42793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Store name and logo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65392" y="4288536"/>
            <a:ext cx="91440" cy="91440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59" y="4261104"/>
            <a:ext cx="4279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Salary cycle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4489704"/>
            <a:ext cx="42793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Calendar or custom monthly cycle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65392" y="4818888"/>
            <a:ext cx="91440" cy="91440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59" y="4791456"/>
            <a:ext cx="4279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Shifts and positions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59" y="5020056"/>
            <a:ext cx="42793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Store-defined roster and employee options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0352" y="6428232"/>
            <a:ext cx="11128248" cy="0"/>
          </a:xfrm>
          <a:prstGeom prst="line">
            <a:avLst/>
          </a:prstGeom>
          <a:ln w="8890">
            <a:solidFill>
              <a:srgbClr val="DCE3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A8792"/>
                </a:solidFill>
                <a:latin typeface="Aptos"/>
              </a:rPr>
              <a:t>POLAR BEAR  /  STORE OPERATIONS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6510528"/>
            <a:ext cx="3063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7A8792"/>
                </a:solidFill>
                <a:latin typeface="Aptos"/>
              </a:rPr>
              <a:t>APPLICATION OVERVIEW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5720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07832"/>
                </a:solidFill>
                <a:latin typeface="Aptos"/>
              </a:rPr>
              <a:t>APPLICATION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83F"/>
                </a:solidFill>
                <a:latin typeface="Aptos Display"/>
              </a:rPr>
              <a:t>Two views. One operating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86777"/>
                </a:solidFill>
                <a:latin typeface="Aptos"/>
              </a:rPr>
              <a:t>Replace each frame with a 13-inch MacBook Pro desktop capture. Target: 1440 × 900 CSS pixels (2880 × 1800 Retina).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212848"/>
            <a:ext cx="5266944" cy="3291840"/>
          </a:xfrm>
          <a:prstGeom prst="roundRect">
            <a:avLst>
              <a:gd name="adj" fmla="val 8000"/>
            </a:avLst>
          </a:prstGeom>
          <a:solidFill>
            <a:srgbClr val="E8EFED"/>
          </a:solidFill>
          <a:ln w="10160">
            <a:solidFill>
              <a:srgbClr val="19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19" y="2286000"/>
            <a:ext cx="5120640" cy="3145536"/>
          </a:xfrm>
          <a:prstGeom prst="roundRect">
            <a:avLst>
              <a:gd name="adj" fmla="val 8000"/>
            </a:avLst>
          </a:prstGeom>
          <a:solidFill>
            <a:srgbClr val="F5F7F4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63239" y="3456432"/>
            <a:ext cx="384048" cy="292608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45536" y="3538728"/>
            <a:ext cx="219456" cy="1280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3986784"/>
            <a:ext cx="462686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INSERT SCREENSHOT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4343400"/>
            <a:ext cx="46268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16:10 desktop capture · fit to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6928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A6B8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5669280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4283F"/>
                </a:solidFill>
                <a:latin typeface="Aptos"/>
              </a:rPr>
              <a:t>ADMIN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5925312"/>
            <a:ext cx="4663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Network overview, stores, and users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2212848"/>
            <a:ext cx="5266944" cy="3291840"/>
          </a:xfrm>
          <a:prstGeom prst="roundRect">
            <a:avLst>
              <a:gd name="adj" fmla="val 8000"/>
            </a:avLst>
          </a:prstGeom>
          <a:solidFill>
            <a:srgbClr val="E8EFED"/>
          </a:solidFill>
          <a:ln w="10160">
            <a:solidFill>
              <a:srgbClr val="F0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27648" y="2286000"/>
            <a:ext cx="5120640" cy="3145536"/>
          </a:xfrm>
          <a:prstGeom prst="roundRect">
            <a:avLst>
              <a:gd name="adj" fmla="val 8000"/>
            </a:avLst>
          </a:prstGeom>
          <a:solidFill>
            <a:srgbClr val="F5F7F4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59367" y="3456432"/>
            <a:ext cx="384048" cy="292608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41664" y="3538728"/>
            <a:ext cx="219456" cy="1280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3986784"/>
            <a:ext cx="462686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INSERT SCREENSHOT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4343400"/>
            <a:ext cx="46268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16:10 desktop capture · fit to 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566928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07832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4264" y="5669280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4283F"/>
                </a:solidFill>
                <a:latin typeface="Aptos"/>
              </a:rPr>
              <a:t>STORE ADMIN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5925312"/>
            <a:ext cx="4663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Store-level operations and performance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0352" y="6428232"/>
            <a:ext cx="11128248" cy="0"/>
          </a:xfrm>
          <a:prstGeom prst="line">
            <a:avLst/>
          </a:prstGeom>
          <a:ln w="8890">
            <a:solidFill>
              <a:srgbClr val="DCE3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A8792"/>
                </a:solidFill>
                <a:latin typeface="Aptos"/>
              </a:rPr>
              <a:t>POLAR BEAR  /  STORE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6510528"/>
            <a:ext cx="3063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7A8792"/>
                </a:solidFill>
                <a:latin typeface="Aptos"/>
              </a:rPr>
              <a:t>APPLICATION OVERVIEW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5720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07832"/>
                </a:solidFill>
                <a:latin typeface="Aptos"/>
              </a:rPr>
              <a:t>ACCESS AND USABILITY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83F"/>
                </a:solidFill>
                <a:latin typeface="Aptos Display"/>
              </a:rPr>
              <a:t>Designed for clear access on desktop and mobile.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86777"/>
                </a:solidFill>
                <a:latin typeface="Aptos"/>
              </a:rPr>
              <a:t>Role-aware navigation and responsive layouts support work at the store and at the center.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212848"/>
            <a:ext cx="55778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4203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A6B8"/>
                </a:solidFill>
                <a:latin typeface="Aptos"/>
              </a:rPr>
              <a:t>ACCESS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3026663"/>
            <a:ext cx="91440" cy="91440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999232"/>
            <a:ext cx="45902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Role-based screens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27832"/>
            <a:ext cx="4590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Navigation follows the signed-in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3639311"/>
            <a:ext cx="91440" cy="91440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611879"/>
            <a:ext cx="45902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Store authorization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40479"/>
            <a:ext cx="4590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Store workflows are scoped to approved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251960"/>
            <a:ext cx="91440" cy="91440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224528"/>
            <a:ext cx="45902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53128"/>
            <a:ext cx="4590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Login includes a verification-code step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4864608"/>
            <a:ext cx="91440" cy="91440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837176"/>
            <a:ext cx="45902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83F"/>
                </a:solidFill>
                <a:latin typeface="Aptos"/>
              </a:rPr>
              <a:t>Sensitive employee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065776"/>
            <a:ext cx="4590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86777"/>
                </a:solidFill>
                <a:latin typeface="Aptos"/>
              </a:rPr>
              <a:t>Protected employee information in admin flows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1696" y="2212848"/>
            <a:ext cx="1993392" cy="3566160"/>
          </a:xfrm>
          <a:prstGeom prst="roundRect">
            <a:avLst>
              <a:gd name="adj" fmla="val 8000"/>
            </a:avLst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67144" y="2450592"/>
            <a:ext cx="1682496" cy="3063240"/>
          </a:xfrm>
          <a:prstGeom prst="roundRect">
            <a:avLst>
              <a:gd name="adj" fmla="val 8000"/>
            </a:avLst>
          </a:prstGeom>
          <a:solidFill>
            <a:srgbClr val="F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40880" y="2679192"/>
            <a:ext cx="1335024" cy="310896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0608" y="2779776"/>
            <a:ext cx="111556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1" i="0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3227832"/>
            <a:ext cx="1335024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0" y="3346703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6056" y="3355848"/>
            <a:ext cx="9418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14283F"/>
                </a:solidFill>
                <a:latin typeface="Aptos"/>
              </a:rPr>
              <a:t>Sales summary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3858768"/>
            <a:ext cx="1335024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32320" y="3977639"/>
            <a:ext cx="109728" cy="109728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06056" y="3986783"/>
            <a:ext cx="9418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14283F"/>
                </a:solidFill>
                <a:latin typeface="Aptos"/>
              </a:rPr>
              <a:t>Team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4489704"/>
            <a:ext cx="1335024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32320" y="4608576"/>
            <a:ext cx="109728" cy="109728"/>
          </a:xfrm>
          <a:prstGeom prst="roundRect">
            <a:avLst>
              <a:gd name="adj" fmla="val 8000"/>
            </a:avLst>
          </a:prstGeom>
          <a:solidFill>
            <a:srgbClr val="E8B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06056" y="4617720"/>
            <a:ext cx="9418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14283F"/>
                </a:solidFill>
                <a:latin typeface="Aptos"/>
              </a:rPr>
              <a:t>Attendance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5212080"/>
            <a:ext cx="841248" cy="45720"/>
          </a:xfrm>
          <a:prstGeom prst="roundRect">
            <a:avLst>
              <a:gd name="adj" fmla="val 8000"/>
            </a:avLst>
          </a:prstGeom>
          <a:solidFill>
            <a:srgbClr val="DCE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2824" y="5907024"/>
            <a:ext cx="2240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586777"/>
                </a:solidFill>
                <a:latin typeface="Aptos"/>
              </a:rPr>
              <a:t>RESPONSIVE VIEW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89720" y="2514600"/>
            <a:ext cx="0" cy="2935224"/>
          </a:xfrm>
          <a:prstGeom prst="line">
            <a:avLst/>
          </a:prstGeom>
          <a:ln w="12700">
            <a:solidFill>
              <a:srgbClr val="DCE3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528048" y="2578608"/>
            <a:ext cx="202996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83F"/>
                </a:solidFill>
                <a:latin typeface="Aptos Display"/>
              </a:rPr>
              <a:t>Mobile-ready patterns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28048" y="3456432"/>
            <a:ext cx="73152" cy="73152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9216" y="3364992"/>
            <a:ext cx="1865375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86777"/>
                </a:solidFill>
                <a:latin typeface="Aptos"/>
              </a:rPr>
              <a:t>Responsive page layouts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28048" y="4023359"/>
            <a:ext cx="73152" cy="73152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29216" y="3931920"/>
            <a:ext cx="1865375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86777"/>
                </a:solidFill>
                <a:latin typeface="Aptos"/>
              </a:rPr>
              <a:t>Drawer-based entry forms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28048" y="4590288"/>
            <a:ext cx="73152" cy="73152"/>
          </a:xfrm>
          <a:prstGeom prst="roundRect">
            <a:avLst>
              <a:gd name="adj" fmla="val 8000"/>
            </a:avLst>
          </a:prstGeom>
          <a:solidFill>
            <a:srgbClr val="F0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29216" y="4498848"/>
            <a:ext cx="1865375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86777"/>
                </a:solidFill>
                <a:latin typeface="Aptos"/>
              </a:rPr>
              <a:t>Compact summary views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30352" y="6428232"/>
            <a:ext cx="11128248" cy="0"/>
          </a:xfrm>
          <a:prstGeom prst="line">
            <a:avLst/>
          </a:prstGeom>
          <a:ln w="8890">
            <a:solidFill>
              <a:srgbClr val="DCE3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A8792"/>
                </a:solidFill>
                <a:latin typeface="Aptos"/>
              </a:rPr>
              <a:t>POLAR BEAR  /  STORE OPERATIONS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6510528"/>
            <a:ext cx="3063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7A8792"/>
                </a:solidFill>
                <a:latin typeface="Aptos"/>
              </a:rPr>
              <a:t>APPLICATION OVERVIEW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4944" y="658368"/>
            <a:ext cx="2578608" cy="274320"/>
          </a:xfrm>
          <a:prstGeom prst="roundRect">
            <a:avLst>
              <a:gd name="adj" fmla="val 8000"/>
            </a:avLst>
          </a:prstGeom>
          <a:solidFill>
            <a:srgbClr val="243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708660"/>
            <a:ext cx="235915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C8E9ED"/>
                </a:solidFill>
                <a:latin typeface="Aptos"/>
              </a:rPr>
              <a:t>POLAR BEAR  /  APPLICATION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371600"/>
            <a:ext cx="7772400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A practical foundation
for consistent store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16352"/>
            <a:ext cx="7132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D0DAE2"/>
                </a:solidFill>
                <a:latin typeface="Aptos"/>
              </a:rPr>
              <a:t>One application connecting oversight, daily execution,
and performance review.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904487"/>
            <a:ext cx="10680192" cy="0"/>
          </a:xfrm>
          <a:prstGeom prst="line">
            <a:avLst/>
          </a:prstGeom>
          <a:ln w="10160">
            <a:solidFill>
              <a:srgbClr val="395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431596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07832"/>
                </a:solidFill>
                <a:latin typeface="Aptos"/>
              </a:rPr>
              <a:t>DISCUSSION WITH OFFICIALS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73659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A6B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736592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Confirm store workflows and role ownership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12064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A6B8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5120640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Align reporting and payroll policies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504688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A6B8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504688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Agree rollout and training priorities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8048" y="1645920"/>
            <a:ext cx="1481328" cy="1481328"/>
          </a:xfrm>
          <a:prstGeom prst="roundRect">
            <a:avLst>
              <a:gd name="adj" fmla="val 8000"/>
            </a:avLst>
          </a:prstGeom>
          <a:solidFill>
            <a:srgbClr val="19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8048" y="2121408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PB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410712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B7C6D3"/>
                </a:solidFill>
                <a:latin typeface="Aptos"/>
              </a:rPr>
              <a:t>STORE OPERATIONS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0352" y="6428232"/>
            <a:ext cx="11128248" cy="0"/>
          </a:xfrm>
          <a:prstGeom prst="line">
            <a:avLst/>
          </a:prstGeom>
          <a:ln w="8890">
            <a:solidFill>
              <a:srgbClr val="354A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9BAC8"/>
                </a:solidFill>
                <a:latin typeface="Aptos"/>
              </a:rPr>
              <a:t>POLAR BEAR  /  STORE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510528"/>
            <a:ext cx="3063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AC8"/>
                </a:solidFill>
                <a:latin typeface="Aptos"/>
              </a:rPr>
              <a:t>APPLICATION OVERVIEW  |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 Bear Store Operations | Application Overview</dc:title>
  <dc:subject>Executive overview of the Polar Bear store operations application</dc:subject>
  <dc:creator>Polar Bear</dc:creator>
  <cp:keywords>Polar Bear, store operations, application overview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